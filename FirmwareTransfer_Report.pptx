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56" r:id="rId2"/>
    <p:sldId id="374" r:id="rId3"/>
    <p:sldId id="375" r:id="rId4"/>
    <p:sldId id="379" r:id="rId5"/>
    <p:sldId id="376" r:id="rId6"/>
    <p:sldId id="377" r:id="rId7"/>
    <p:sldId id="378" r:id="rId8"/>
    <p:sldId id="380" r:id="rId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FBCA6B1-8409-4317-AF1E-62AAF1C42384}">
          <p14:sldIdLst>
            <p14:sldId id="256"/>
            <p14:sldId id="374"/>
            <p14:sldId id="375"/>
            <p14:sldId id="379"/>
            <p14:sldId id="376"/>
            <p14:sldId id="377"/>
            <p14:sldId id="378"/>
            <p14:sldId id="38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05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劉文欽" initials="劉文欽" lastIdx="1" clrIdx="0">
    <p:extLst>
      <p:ext uri="{19B8F6BF-5375-455C-9EA6-DF929625EA0E}">
        <p15:presenceInfo xmlns:p15="http://schemas.microsoft.com/office/powerpoint/2012/main" userId="f6cfc2828b0743a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C00"/>
    <a:srgbClr val="00FF00"/>
    <a:srgbClr val="0066FF"/>
    <a:srgbClr val="008000"/>
    <a:srgbClr val="0000FF"/>
    <a:srgbClr val="BF9000"/>
    <a:srgbClr val="8B8B8B"/>
    <a:srgbClr val="969696"/>
    <a:srgbClr val="404040"/>
    <a:srgbClr val="5656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淺色樣式 2 - 輔色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B1032C-EA38-4F05-BA0D-38AFFFC7BED3}" styleName="淺色樣式 3 - 輔色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淺色樣式 1 - 輔色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84" autoAdjust="0"/>
    <p:restoredTop sz="96108" autoAdjust="0"/>
  </p:normalViewPr>
  <p:slideViewPr>
    <p:cSldViewPr snapToGrid="0">
      <p:cViewPr varScale="1">
        <p:scale>
          <a:sx n="115" d="100"/>
          <a:sy n="115" d="100"/>
        </p:scale>
        <p:origin x="480" y="102"/>
      </p:cViewPr>
      <p:guideLst>
        <p:guide orient="horz" pos="2205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7" d="100"/>
          <a:sy n="57" d="100"/>
        </p:scale>
        <p:origin x="1980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8C92BB-F181-4506-8A61-5B899AADFA0D}" type="datetimeFigureOut">
              <a:rPr lang="zh-TW" altLang="en-US" smtClean="0"/>
              <a:t>2022/6/22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CC113A-5599-4DB1-8FEC-4599098894F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7308228"/>
      </p:ext>
    </p:extLst>
  </p:cSld>
  <p:clrMap bg1="lt1" tx1="dk1" bg2="lt2" tx2="dk2" accent1="accent1" accent2="accent2" accent3="accent3" accent4="accent4" accent5="accent5" accent6="accent6" hlink="hlink" folHlink="folHlink"/>
  <p:hf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019015-B8C4-42FD-AE82-32B39669EA8A}" type="datetimeFigureOut">
              <a:rPr lang="zh-TW" altLang="en-US" smtClean="0"/>
              <a:t>2022/6/22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827C81-F3E8-4040-9B38-9D1301E82DA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54976934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60876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070485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46742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35588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56831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29452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27767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05AA4-59D8-423A-BAA8-2553C29339F9}" type="datetime1">
              <a:rPr lang="zh-TW" altLang="en-US" smtClean="0"/>
              <a:t>2022/6/22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6549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94DF4-98DE-40E5-B375-6803A6F2737F}" type="datetime1">
              <a:rPr lang="zh-TW" altLang="en-US" smtClean="0"/>
              <a:t>2022/6/22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67418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1" y="1709744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1" y="4589469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FEB29-91FA-4EB2-89A4-D82CF7FC129E}" type="datetime1">
              <a:rPr lang="zh-TW" altLang="en-US" smtClean="0"/>
              <a:t>2022/6/22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20442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C94FB9-2DB5-4A71-96A3-00F28A5DAECA}" type="datetime1">
              <a:rPr lang="zh-TW" altLang="en-US" smtClean="0"/>
              <a:t>2022/6/22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339428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9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3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3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967245-C867-4E66-A7CA-C3C2A4CF914D}" type="datetime1">
              <a:rPr lang="zh-TW" altLang="en-US" smtClean="0"/>
              <a:t>2022/6/22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87309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9E49C-CE94-4B06-9C6F-C43A1CC4C65D}" type="datetime1">
              <a:rPr lang="zh-TW" altLang="en-US" smtClean="0"/>
              <a:t>2022/6/22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06347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57702-2E80-47D2-966E-676E1578242A}" type="datetime1">
              <a:rPr lang="zh-TW" altLang="en-US" smtClean="0"/>
              <a:t>2022/6/22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46149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31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1CAA8-00E4-4847-8C2E-9A2836AE9482}" type="datetime1">
              <a:rPr lang="zh-TW" altLang="en-US" smtClean="0"/>
              <a:t>2022/6/22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416628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31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78" indent="0">
              <a:buNone/>
              <a:defRPr sz="2800"/>
            </a:lvl2pPr>
            <a:lvl3pPr marL="914354" indent="0">
              <a:buNone/>
              <a:defRPr sz="2400"/>
            </a:lvl3pPr>
            <a:lvl4pPr marL="1371532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2" indent="0">
              <a:buNone/>
              <a:defRPr sz="2000"/>
            </a:lvl7pPr>
            <a:lvl8pPr marL="3200240" indent="0">
              <a:buNone/>
              <a:defRPr sz="2000"/>
            </a:lvl8pPr>
            <a:lvl9pPr marL="3657418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FCC34-AA8E-4FA5-B155-8D2B943D3621}" type="datetime1">
              <a:rPr lang="zh-TW" altLang="en-US" smtClean="0"/>
              <a:t>2022/6/22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16029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60100-8364-4153-936A-DAF7E2C046CC}" type="datetime1">
              <a:rPr lang="zh-TW" altLang="en-US" smtClean="0"/>
              <a:t>2022/6/22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694698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2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3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19E4C9-9169-4672-A05E-64E81C4D9130}" type="datetime1">
              <a:rPr lang="zh-TW" altLang="en-US" smtClean="0"/>
              <a:t>2022/6/22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84075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194816" y="1899043"/>
            <a:ext cx="9802368" cy="694944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072384" y="2914060"/>
            <a:ext cx="6047232" cy="493776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 sz="24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Short Description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2" hasCustomPrompt="1"/>
          </p:nvPr>
        </p:nvSpPr>
        <p:spPr>
          <a:xfrm>
            <a:off x="4870704" y="3727909"/>
            <a:ext cx="2450592" cy="402336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 sz="18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Month 2018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4756" y="6218429"/>
            <a:ext cx="1662282" cy="448276"/>
          </a:xfrm>
          <a:prstGeom prst="rect">
            <a:avLst/>
          </a:prstGeom>
        </p:spPr>
      </p:pic>
      <p:sp>
        <p:nvSpPr>
          <p:cNvPr id="9" name="Rectangle 8"/>
          <p:cNvSpPr/>
          <p:nvPr userDrawn="1"/>
        </p:nvSpPr>
        <p:spPr>
          <a:xfrm>
            <a:off x="85633" y="6552676"/>
            <a:ext cx="106311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sz="1100" b="1" baseline="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rev 20180423</a:t>
            </a:r>
          </a:p>
        </p:txBody>
      </p:sp>
      <p:sp>
        <p:nvSpPr>
          <p:cNvPr id="10" name="TextBox 8"/>
          <p:cNvSpPr txBox="1"/>
          <p:nvPr userDrawn="1"/>
        </p:nvSpPr>
        <p:spPr>
          <a:xfrm>
            <a:off x="2808610" y="5194514"/>
            <a:ext cx="65747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  <a:r>
              <a:rPr lang="en-US" b="1" baseline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Subject to Confidentiality Agreement/NDA</a:t>
            </a:r>
          </a:p>
        </p:txBody>
      </p:sp>
    </p:spTree>
    <p:extLst>
      <p:ext uri="{BB962C8B-B14F-4D97-AF65-F5344CB8AC3E}">
        <p14:creationId xmlns:p14="http://schemas.microsoft.com/office/powerpoint/2010/main" val="8422143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8989" y="1178262"/>
            <a:ext cx="10515600" cy="4351338"/>
          </a:xfrm>
          <a:prstGeom prst="rect">
            <a:avLst/>
          </a:prstGeom>
        </p:spPr>
        <p:txBody>
          <a:bodyPr/>
          <a:lstStyle>
            <a:lvl1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Font typeface="Courier New" panose="02070309020205020404" pitchFamily="49" charset="0"/>
              <a:buChar char="o"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Arial" panose="020B0604020202020204" pitchFamily="34" charset="0"/>
              <a:buChar char="•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buFont typeface="Arial" panose="020B0604020202020204" pitchFamily="34" charset="0"/>
              <a:buChar char="•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buFont typeface="Arial" panose="020B0604020202020204" pitchFamily="34" charset="0"/>
              <a:buChar char="•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217808" y="203284"/>
            <a:ext cx="6096000" cy="521208"/>
          </a:xfrm>
          <a:prstGeom prst="rect">
            <a:avLst/>
          </a:prstGeom>
          <a:solidFill>
            <a:srgbClr val="1C6CFF"/>
          </a:solidFill>
        </p:spPr>
        <p:txBody>
          <a:bodyPr anchor="ctr"/>
          <a:lstStyle>
            <a:lvl1pPr>
              <a:defRPr sz="2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2884537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01BA0B-4627-465D-95EA-350803BA0704}" type="datetime1">
              <a:rPr lang="zh-TW" altLang="en-US" smtClean="0"/>
              <a:t>2022/6/22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9856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194816" y="1927618"/>
            <a:ext cx="9802368" cy="694944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en-US" altLang="zh-TW" sz="3600" dirty="0"/>
              <a:t>ATE MPF32020</a:t>
            </a:r>
            <a:endParaRPr lang="zh-TW" altLang="en-US" sz="3600" dirty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quarter" idx="12"/>
          </p:nvPr>
        </p:nvSpPr>
        <p:spPr>
          <a:xfrm>
            <a:off x="4870704" y="3737434"/>
            <a:ext cx="2450592" cy="402336"/>
          </a:xfrm>
        </p:spPr>
        <p:txBody>
          <a:bodyPr/>
          <a:lstStyle/>
          <a:p>
            <a:r>
              <a:rPr lang="en-US" altLang="zh-TW" dirty="0"/>
              <a:t>May 2022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713432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217808" y="203284"/>
            <a:ext cx="6725252" cy="521208"/>
          </a:xfrm>
        </p:spPr>
        <p:txBody>
          <a:bodyPr>
            <a:normAutofit/>
          </a:bodyPr>
          <a:lstStyle/>
          <a:p>
            <a:r>
              <a:rPr lang="en-US" altLang="zh-TW" dirty="0"/>
              <a:t>Pinout</a:t>
            </a:r>
            <a:endParaRPr lang="zh-TW" alt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225E9F-B3BD-4143-B213-1DB361247E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2490" y="724492"/>
            <a:ext cx="6004310" cy="6121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662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00DE3ACC-81D0-F921-BD41-F4B804D1E9C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508" r="1695" b="3682"/>
          <a:stretch/>
        </p:blipFill>
        <p:spPr>
          <a:xfrm>
            <a:off x="9002684" y="3019757"/>
            <a:ext cx="3125586" cy="38505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08BC7A2-FD35-43CD-A76C-C2657AC5496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-87" b="-1"/>
          <a:stretch/>
        </p:blipFill>
        <p:spPr>
          <a:xfrm>
            <a:off x="4032315" y="4652146"/>
            <a:ext cx="1152381" cy="19350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963CDA-658C-C858-44B5-6FF5216E0E66}"/>
              </a:ext>
            </a:extLst>
          </p:cNvPr>
          <p:cNvSpPr txBox="1"/>
          <p:nvPr/>
        </p:nvSpPr>
        <p:spPr>
          <a:xfrm>
            <a:off x="263760" y="3970694"/>
            <a:ext cx="388867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UART0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Commands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b="1" dirty="0"/>
              <a:t>UART2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RS485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Response : “Hello MPF32020”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dirty="0"/>
          </a:p>
          <a:p>
            <a:r>
              <a:rPr lang="es-ES" sz="1400" b="1" dirty="0"/>
              <a:t>CAN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/>
              <a:t>Response: “MPS” </a:t>
            </a:r>
            <a:r>
              <a:rPr lang="es-ES" sz="1400" dirty="0" err="1"/>
              <a:t>or</a:t>
            </a:r>
            <a:r>
              <a:rPr lang="es-ES" sz="1400" dirty="0"/>
              <a:t> 0x4D 0x50 0x53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dirty="0"/>
          </a:p>
          <a:p>
            <a:r>
              <a:rPr lang="es-ES" sz="1400" b="1" dirty="0"/>
              <a:t>SPI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/>
              <a:t>Used </a:t>
            </a:r>
            <a:r>
              <a:rPr lang="es-ES" sz="1400" dirty="0" err="1"/>
              <a:t>on</a:t>
            </a:r>
            <a:r>
              <a:rPr lang="es-ES" sz="1400" dirty="0"/>
              <a:t> DAC </a:t>
            </a:r>
            <a:r>
              <a:rPr lang="es-ES" sz="1400" dirty="0" err="1"/>
              <a:t>or</a:t>
            </a:r>
            <a:r>
              <a:rPr lang="es-ES" sz="1400" dirty="0"/>
              <a:t> ADC </a:t>
            </a:r>
            <a:r>
              <a:rPr lang="es-ES" sz="1400" dirty="0" err="1"/>
              <a:t>with</a:t>
            </a:r>
            <a:r>
              <a:rPr lang="es-ES" sz="1400" dirty="0"/>
              <a:t> EXTI input</a:t>
            </a:r>
            <a:endParaRPr lang="en-US" sz="1400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74EA398-D76B-D455-3238-0325FD5F2B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9988526"/>
              </p:ext>
            </p:extLst>
          </p:nvPr>
        </p:nvGraphicFramePr>
        <p:xfrm>
          <a:off x="217808" y="823574"/>
          <a:ext cx="9357358" cy="2907191"/>
        </p:xfrm>
        <a:graphic>
          <a:graphicData uri="http://schemas.openxmlformats.org/drawingml/2006/table">
            <a:tbl>
              <a:tblPr/>
              <a:tblGrid>
                <a:gridCol w="1216505">
                  <a:extLst>
                    <a:ext uri="{9D8B030D-6E8A-4147-A177-3AD203B41FA5}">
                      <a16:colId xmlns:a16="http://schemas.microsoft.com/office/drawing/2014/main" val="827967067"/>
                    </a:ext>
                  </a:extLst>
                </a:gridCol>
                <a:gridCol w="1495174">
                  <a:extLst>
                    <a:ext uri="{9D8B030D-6E8A-4147-A177-3AD203B41FA5}">
                      <a16:colId xmlns:a16="http://schemas.microsoft.com/office/drawing/2014/main" val="53714372"/>
                    </a:ext>
                  </a:extLst>
                </a:gridCol>
                <a:gridCol w="2775603">
                  <a:extLst>
                    <a:ext uri="{9D8B030D-6E8A-4147-A177-3AD203B41FA5}">
                      <a16:colId xmlns:a16="http://schemas.microsoft.com/office/drawing/2014/main" val="31401503"/>
                    </a:ext>
                  </a:extLst>
                </a:gridCol>
                <a:gridCol w="661839">
                  <a:extLst>
                    <a:ext uri="{9D8B030D-6E8A-4147-A177-3AD203B41FA5}">
                      <a16:colId xmlns:a16="http://schemas.microsoft.com/office/drawing/2014/main" val="794877164"/>
                    </a:ext>
                  </a:extLst>
                </a:gridCol>
                <a:gridCol w="863757">
                  <a:extLst>
                    <a:ext uri="{9D8B030D-6E8A-4147-A177-3AD203B41FA5}">
                      <a16:colId xmlns:a16="http://schemas.microsoft.com/office/drawing/2014/main" val="751835324"/>
                    </a:ext>
                  </a:extLst>
                </a:gridCol>
                <a:gridCol w="1155414">
                  <a:extLst>
                    <a:ext uri="{9D8B030D-6E8A-4147-A177-3AD203B41FA5}">
                      <a16:colId xmlns:a16="http://schemas.microsoft.com/office/drawing/2014/main" val="1979656978"/>
                    </a:ext>
                  </a:extLst>
                </a:gridCol>
                <a:gridCol w="1189066">
                  <a:extLst>
                    <a:ext uri="{9D8B030D-6E8A-4147-A177-3AD203B41FA5}">
                      <a16:colId xmlns:a16="http://schemas.microsoft.com/office/drawing/2014/main" val="2629538412"/>
                    </a:ext>
                  </a:extLst>
                </a:gridCol>
              </a:tblGrid>
              <a:tr h="129244"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Commands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Binary</a:t>
                      </a:r>
                      <a:r>
                        <a:rPr lang="es-E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IN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OUT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5719361"/>
                  </a:ext>
                </a:extLst>
              </a:tr>
              <a:tr h="71374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ON PWM_L, PWM_H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2668434"/>
                  </a:ext>
                </a:extLst>
              </a:tr>
              <a:tr h="85181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OFF PWM_L, PWM_H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237846"/>
                  </a:ext>
                </a:extLst>
              </a:tr>
              <a:tr h="22240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FREQ 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value_freq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0xFC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value_high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value_low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PWM frequency to the &lt;value&gt; one, defined in kHz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FREQ 20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0x50 0x14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7815106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DT 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0xD1 0x&lt;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PWM deadtime to &lt;value&gt;, when the deadtime is &lt;value&gt;*(1/freq)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DT 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0xA0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426778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DC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0xDC 0x&lt;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duty 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cicle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, value has to be between 0 and 100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DC 50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0xDC 0x32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9914469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ON SRL, SRH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2626991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0x0A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OFF SRL, SRH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201463"/>
                  </a:ext>
                </a:extLst>
              </a:tr>
              <a:tr h="2222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FREQ &lt;value_freq&gt;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0xFC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value_high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value_low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SR frequency to the &lt;value&gt; one, defined in kHz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0572667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DT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0xD1 0x&lt;value&gt;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SR deadtime to &lt;value&gt;, when the deadtime is &lt;value&gt;*(1/freq)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7755879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DC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0xDC 0x&lt;value&gt;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duty 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cicle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, value has to be between 0 and 100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430904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START_CH 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0x37 0x&lt;value&gt;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Set ADC channel to be sampled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 &amp; values (SPI)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START_CH 3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0x37 0x03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975143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STOP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0x30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Stops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ADC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sampling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test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STOP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0x30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8748934"/>
                  </a:ext>
                </a:extLst>
              </a:tr>
            </a:tbl>
          </a:graphicData>
        </a:graphic>
      </p:graphicFrame>
      <p:sp>
        <p:nvSpPr>
          <p:cNvPr id="12" name="Title 11">
            <a:extLst>
              <a:ext uri="{FF2B5EF4-FFF2-40B4-BE49-F238E27FC236}">
                <a16:creationId xmlns:a16="http://schemas.microsoft.com/office/drawing/2014/main" id="{DAD552A2-B0E5-43C0-2DC1-B78D7BBE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UART &amp; CAN &amp; SPI Module</a:t>
            </a:r>
            <a:endParaRPr lang="es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F5BDEA-E73F-F19A-07B2-3DFE3DD2B61C}"/>
              </a:ext>
            </a:extLst>
          </p:cNvPr>
          <p:cNvSpPr txBox="1"/>
          <p:nvPr/>
        </p:nvSpPr>
        <p:spPr>
          <a:xfrm>
            <a:off x="3460726" y="4298803"/>
            <a:ext cx="24219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u="sng" dirty="0"/>
              <a:t>UART0 &amp; 2 Configuration</a:t>
            </a:r>
            <a:endParaRPr lang="es-ES" sz="1600" u="sng" dirty="0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63A2410E-0749-F290-7543-2F0E830F33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098969"/>
              </p:ext>
            </p:extLst>
          </p:nvPr>
        </p:nvGraphicFramePr>
        <p:xfrm>
          <a:off x="6065787" y="4337123"/>
          <a:ext cx="2480830" cy="1015365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80830">
                  <a:extLst>
                    <a:ext uri="{9D8B030D-6E8A-4147-A177-3AD203B41FA5}">
                      <a16:colId xmlns:a16="http://schemas.microsoft.com/office/drawing/2014/main" val="411406976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600" b="1" u="sng" strike="noStrike" dirty="0">
                          <a:solidFill>
                            <a:srgbClr val="000000"/>
                          </a:solidFill>
                          <a:effectLst/>
                        </a:rPr>
                        <a:t>SPI </a:t>
                      </a:r>
                      <a:r>
                        <a:rPr lang="es-ES" sz="1600" b="1" u="sng" strike="noStrike" dirty="0" err="1">
                          <a:solidFill>
                            <a:srgbClr val="000000"/>
                          </a:solidFill>
                          <a:effectLst/>
                        </a:rPr>
                        <a:t>Configuration</a:t>
                      </a:r>
                      <a:endParaRPr lang="es-ES" sz="1600" b="1" i="0" u="sng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1555884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freq</a:t>
                      </a: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-&gt; 15MHz</a:t>
                      </a:r>
                      <a:b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Endian -&gt; MSB</a:t>
                      </a:r>
                      <a:b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n-US" sz="11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Frame_Size</a:t>
                      </a: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-&gt; 8bit</a:t>
                      </a:r>
                      <a:b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Polarity -&gt; SPI_CK_PL_LOW_PH_1EDGE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886370562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7394B3F3-B66A-5E18-EA9E-0CDAE8CF0B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8037534"/>
              </p:ext>
            </p:extLst>
          </p:nvPr>
        </p:nvGraphicFramePr>
        <p:xfrm>
          <a:off x="6096000" y="5901561"/>
          <a:ext cx="2480830" cy="4632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80830">
                  <a:extLst>
                    <a:ext uri="{9D8B030D-6E8A-4147-A177-3AD203B41FA5}">
                      <a16:colId xmlns:a16="http://schemas.microsoft.com/office/drawing/2014/main" val="766380873"/>
                    </a:ext>
                  </a:extLst>
                </a:gridCol>
              </a:tblGrid>
              <a:tr h="141791">
                <a:tc>
                  <a:txBody>
                    <a:bodyPr/>
                    <a:lstStyle/>
                    <a:p>
                      <a:pPr algn="ctr" fontAlgn="b"/>
                      <a:r>
                        <a:rPr lang="es-ES" sz="1600" b="1" u="sng" strike="noStrike" dirty="0">
                          <a:solidFill>
                            <a:srgbClr val="000000"/>
                          </a:solidFill>
                          <a:effectLst/>
                        </a:rPr>
                        <a:t>CAN </a:t>
                      </a:r>
                      <a:r>
                        <a:rPr lang="es-ES" sz="1600" b="1" u="sng" strike="noStrike" dirty="0" err="1">
                          <a:solidFill>
                            <a:srgbClr val="000000"/>
                          </a:solidFill>
                          <a:effectLst/>
                        </a:rPr>
                        <a:t>Configuration</a:t>
                      </a:r>
                      <a:endParaRPr lang="es-ES" sz="1600" b="1" i="0" u="sng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72528029"/>
                  </a:ext>
                </a:extLst>
              </a:tr>
              <a:tr h="209934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Baudrate</a:t>
                      </a:r>
                      <a:r>
                        <a:rPr lang="es-E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-&gt; 500KBps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092793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9498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00DE3ACC-81D0-F921-BD41-F4B804D1E9C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508" b="4043"/>
          <a:stretch/>
        </p:blipFill>
        <p:spPr>
          <a:xfrm>
            <a:off x="9110749" y="3154952"/>
            <a:ext cx="3081251" cy="3703050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74EA398-D76B-D455-3238-0325FD5F2B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5554405"/>
              </p:ext>
            </p:extLst>
          </p:nvPr>
        </p:nvGraphicFramePr>
        <p:xfrm>
          <a:off x="217808" y="794993"/>
          <a:ext cx="9357358" cy="3058953"/>
        </p:xfrm>
        <a:graphic>
          <a:graphicData uri="http://schemas.openxmlformats.org/drawingml/2006/table">
            <a:tbl>
              <a:tblPr/>
              <a:tblGrid>
                <a:gridCol w="1216505">
                  <a:extLst>
                    <a:ext uri="{9D8B030D-6E8A-4147-A177-3AD203B41FA5}">
                      <a16:colId xmlns:a16="http://schemas.microsoft.com/office/drawing/2014/main" val="827967067"/>
                    </a:ext>
                  </a:extLst>
                </a:gridCol>
                <a:gridCol w="1495174">
                  <a:extLst>
                    <a:ext uri="{9D8B030D-6E8A-4147-A177-3AD203B41FA5}">
                      <a16:colId xmlns:a16="http://schemas.microsoft.com/office/drawing/2014/main" val="53714372"/>
                    </a:ext>
                  </a:extLst>
                </a:gridCol>
                <a:gridCol w="2775603">
                  <a:extLst>
                    <a:ext uri="{9D8B030D-6E8A-4147-A177-3AD203B41FA5}">
                      <a16:colId xmlns:a16="http://schemas.microsoft.com/office/drawing/2014/main" val="31401503"/>
                    </a:ext>
                  </a:extLst>
                </a:gridCol>
                <a:gridCol w="661839">
                  <a:extLst>
                    <a:ext uri="{9D8B030D-6E8A-4147-A177-3AD203B41FA5}">
                      <a16:colId xmlns:a16="http://schemas.microsoft.com/office/drawing/2014/main" val="794877164"/>
                    </a:ext>
                  </a:extLst>
                </a:gridCol>
                <a:gridCol w="863757">
                  <a:extLst>
                    <a:ext uri="{9D8B030D-6E8A-4147-A177-3AD203B41FA5}">
                      <a16:colId xmlns:a16="http://schemas.microsoft.com/office/drawing/2014/main" val="751835324"/>
                    </a:ext>
                  </a:extLst>
                </a:gridCol>
                <a:gridCol w="1155414">
                  <a:extLst>
                    <a:ext uri="{9D8B030D-6E8A-4147-A177-3AD203B41FA5}">
                      <a16:colId xmlns:a16="http://schemas.microsoft.com/office/drawing/2014/main" val="1979656978"/>
                    </a:ext>
                  </a:extLst>
                </a:gridCol>
                <a:gridCol w="1189066">
                  <a:extLst>
                    <a:ext uri="{9D8B030D-6E8A-4147-A177-3AD203B41FA5}">
                      <a16:colId xmlns:a16="http://schemas.microsoft.com/office/drawing/2014/main" val="2629538412"/>
                    </a:ext>
                  </a:extLst>
                </a:gridCol>
              </a:tblGrid>
              <a:tr h="129244"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Commands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Binary</a:t>
                      </a:r>
                      <a:r>
                        <a:rPr lang="es-E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IN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OUT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5719361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DAC0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0xDC 0x&lt;value_H&gt;  0x&lt;value_L&gt;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Actualize the DAC0 value to &lt;value&gt;, output value will be Vout = (&lt;value&gt;/4096)*3,2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2682641"/>
                  </a:ext>
                </a:extLst>
              </a:tr>
              <a:tr h="406345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DAC1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0xDD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value_H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 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value_L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Actualize the DAC1 value to &lt;value&gt;, output value will be 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Vout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= (&lt;value&gt;/4096)*3,3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DAC 1035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0xDC 0x0D  0xE9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7152776"/>
                  </a:ext>
                </a:extLst>
              </a:tr>
              <a:tr h="24203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READ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Send the state of all input GPIO and SYNC_IN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READ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7936945"/>
                  </a:ext>
                </a:extLst>
              </a:tr>
              <a:tr h="253498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VIL_VIH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Configure all the pin as input and return their value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VIL_VIH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3490949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NORMAL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0xA4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Reset the pin configuration to their default.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NORMAL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0xA0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0514301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MIDDLE1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0x85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Configure some pins as input and other as output, output ones will be pulled high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MIDDLE1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0x85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0538591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0x58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Configure some pins as input and other as output, output ones will be pulled high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0x58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1596932"/>
                  </a:ext>
                </a:extLst>
              </a:tr>
              <a:tr h="206017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UART TM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0xCA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a-DK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Send TM message over RS485 (UART2)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UART TM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0xCA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7542856"/>
                  </a:ext>
                </a:extLst>
              </a:tr>
              <a:tr h="192824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CAN TM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0xC5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Send TM message over CAN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CAN TM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0xC5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083875"/>
                  </a:ext>
                </a:extLst>
              </a:tr>
              <a:tr h="186312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0xFA 0xF0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ON FAN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0xF0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2780778"/>
                  </a:ext>
                </a:extLst>
              </a:tr>
              <a:tr h="149630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0x0F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OFF FAN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0x0F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7967398"/>
                  </a:ext>
                </a:extLst>
              </a:tr>
              <a:tr h="124691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DC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0xDC 0x&lt;value&gt;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FAN frequency to the &lt;value&gt; one, defined in kHz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DC 80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0xDC 0x20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948010"/>
                  </a:ext>
                </a:extLst>
              </a:tr>
            </a:tbl>
          </a:graphicData>
        </a:graphic>
      </p:graphicFrame>
      <p:sp>
        <p:nvSpPr>
          <p:cNvPr id="12" name="Title 11">
            <a:extLst>
              <a:ext uri="{FF2B5EF4-FFF2-40B4-BE49-F238E27FC236}">
                <a16:creationId xmlns:a16="http://schemas.microsoft.com/office/drawing/2014/main" id="{DAD552A2-B0E5-43C0-2DC1-B78D7BBE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UART &amp; CAN Module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37532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C0426AD-3BD2-C6BF-C79A-D6CB2354A7E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741" t="3333" r="-527" b="4503"/>
          <a:stretch/>
        </p:blipFill>
        <p:spPr>
          <a:xfrm>
            <a:off x="6991004" y="2234280"/>
            <a:ext cx="4617217" cy="4582197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74EA398-D76B-D455-3238-0325FD5F2B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7077056"/>
              </p:ext>
            </p:extLst>
          </p:nvPr>
        </p:nvGraphicFramePr>
        <p:xfrm>
          <a:off x="217808" y="944623"/>
          <a:ext cx="9357358" cy="1363567"/>
        </p:xfrm>
        <a:graphic>
          <a:graphicData uri="http://schemas.openxmlformats.org/drawingml/2006/table">
            <a:tbl>
              <a:tblPr/>
              <a:tblGrid>
                <a:gridCol w="1216505">
                  <a:extLst>
                    <a:ext uri="{9D8B030D-6E8A-4147-A177-3AD203B41FA5}">
                      <a16:colId xmlns:a16="http://schemas.microsoft.com/office/drawing/2014/main" val="827967067"/>
                    </a:ext>
                  </a:extLst>
                </a:gridCol>
                <a:gridCol w="1495174">
                  <a:extLst>
                    <a:ext uri="{9D8B030D-6E8A-4147-A177-3AD203B41FA5}">
                      <a16:colId xmlns:a16="http://schemas.microsoft.com/office/drawing/2014/main" val="53714372"/>
                    </a:ext>
                  </a:extLst>
                </a:gridCol>
                <a:gridCol w="2775603">
                  <a:extLst>
                    <a:ext uri="{9D8B030D-6E8A-4147-A177-3AD203B41FA5}">
                      <a16:colId xmlns:a16="http://schemas.microsoft.com/office/drawing/2014/main" val="31401503"/>
                    </a:ext>
                  </a:extLst>
                </a:gridCol>
                <a:gridCol w="661839">
                  <a:extLst>
                    <a:ext uri="{9D8B030D-6E8A-4147-A177-3AD203B41FA5}">
                      <a16:colId xmlns:a16="http://schemas.microsoft.com/office/drawing/2014/main" val="794877164"/>
                    </a:ext>
                  </a:extLst>
                </a:gridCol>
                <a:gridCol w="863757">
                  <a:extLst>
                    <a:ext uri="{9D8B030D-6E8A-4147-A177-3AD203B41FA5}">
                      <a16:colId xmlns:a16="http://schemas.microsoft.com/office/drawing/2014/main" val="751835324"/>
                    </a:ext>
                  </a:extLst>
                </a:gridCol>
                <a:gridCol w="1155414">
                  <a:extLst>
                    <a:ext uri="{9D8B030D-6E8A-4147-A177-3AD203B41FA5}">
                      <a16:colId xmlns:a16="http://schemas.microsoft.com/office/drawing/2014/main" val="1979656978"/>
                    </a:ext>
                  </a:extLst>
                </a:gridCol>
                <a:gridCol w="1189066">
                  <a:extLst>
                    <a:ext uri="{9D8B030D-6E8A-4147-A177-3AD203B41FA5}">
                      <a16:colId xmlns:a16="http://schemas.microsoft.com/office/drawing/2014/main" val="2629538412"/>
                    </a:ext>
                  </a:extLst>
                </a:gridCol>
              </a:tblGrid>
              <a:tr h="129244"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Commands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Binary</a:t>
                      </a:r>
                      <a:r>
                        <a:rPr lang="es-E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IN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OUT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5719361"/>
                  </a:ext>
                </a:extLst>
              </a:tr>
              <a:tr h="24569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READ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Send the state of all input GPIO and SYNC_IN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READ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7936945"/>
                  </a:ext>
                </a:extLst>
              </a:tr>
              <a:tr h="253498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VIL_VIH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Configure all the pin as input and return their value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VIL_VIH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3490949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NORMAL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0xA4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Reset the pin configuration to their default.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NORMAL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0xA0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0514301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MIDDLE1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0x85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Configure some pins as input and other as output, output ones will be pulled high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MIDDLE1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0x85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0538591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0x58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Configure some pins as input and other as output, output ones will be pulled high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0x58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1596932"/>
                  </a:ext>
                </a:extLst>
              </a:tr>
            </a:tbl>
          </a:graphicData>
        </a:graphic>
      </p:graphicFrame>
      <p:sp>
        <p:nvSpPr>
          <p:cNvPr id="12" name="Title 11">
            <a:extLst>
              <a:ext uri="{FF2B5EF4-FFF2-40B4-BE49-F238E27FC236}">
                <a16:creationId xmlns:a16="http://schemas.microsoft.com/office/drawing/2014/main" id="{DAD552A2-B0E5-43C0-2DC1-B78D7BBE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GPIO Module</a:t>
            </a:r>
            <a:endParaRPr lang="es-E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8890B88-5D2B-5635-0294-5F15A8D6C3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5741331"/>
              </p:ext>
            </p:extLst>
          </p:nvPr>
        </p:nvGraphicFramePr>
        <p:xfrm>
          <a:off x="743411" y="3063687"/>
          <a:ext cx="2947439" cy="3238500"/>
        </p:xfrm>
        <a:graphic>
          <a:graphicData uri="http://schemas.openxmlformats.org/drawingml/2006/table">
            <a:tbl>
              <a:tblPr/>
              <a:tblGrid>
                <a:gridCol w="2947439">
                  <a:extLst>
                    <a:ext uri="{9D8B030D-6E8A-4147-A177-3AD203B41FA5}">
                      <a16:colId xmlns:a16="http://schemas.microsoft.com/office/drawing/2014/main" val="689968306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Middle connections (input -&gt; output)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EAA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552583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ALARM &lt;-&gt; SRH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204074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WD &lt;-&gt; FAN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302413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USART_DE &lt;-&gt; TEMP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92463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SR_EN &lt;-&gt; VBUS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761193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PWM_EN &lt;-&gt; NA(IBUS)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79234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LED1 &lt;-&gt; IPRI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68674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LED2 &lt;-&gt; VBAT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619958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LED3 &lt;-&gt; IBAT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32009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STATE &lt;-&gt; NA(ISEC)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82456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ENABLE &lt;-&gt; NA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25727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NC(OCSEC) &lt;-&gt; OCPRITH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4800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WD_OK &lt;-&gt; NA(OCSEC)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86523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OCPRI &lt;-&gt; UART2_TX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544789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PWML &lt;-&gt; UART2_RX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501216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PWMH &lt;-&gt; CAN_TX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0940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SRL &lt;-&gt; CAN_RX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31726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1F87F11-A818-BC2B-CB74-420DF664413A}"/>
              </a:ext>
            </a:extLst>
          </p:cNvPr>
          <p:cNvSpPr txBox="1"/>
          <p:nvPr/>
        </p:nvSpPr>
        <p:spPr>
          <a:xfrm>
            <a:off x="3823854" y="3063687"/>
            <a:ext cx="190148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Middle 1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input -&gt; output</a:t>
            </a:r>
          </a:p>
          <a:p>
            <a:endParaRPr lang="en-US" dirty="0"/>
          </a:p>
          <a:p>
            <a:r>
              <a:rPr lang="en-US" u="sng" dirty="0"/>
              <a:t>Middle 2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output &lt;- input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756375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48A33A8-7ABE-FADB-BE6C-FE995C77890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056" t="9832" b="14395"/>
          <a:stretch/>
        </p:blipFill>
        <p:spPr>
          <a:xfrm>
            <a:off x="8753302" y="3597519"/>
            <a:ext cx="3496887" cy="3260481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DAD552A2-B0E5-43C0-2DC1-B78D7BBE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PWM &amp; SR &amp; FAN Module</a:t>
            </a:r>
            <a:endParaRPr lang="es-E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07FDBF9-71FC-8E1F-3837-F8A8F0FF06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5215502"/>
              </p:ext>
            </p:extLst>
          </p:nvPr>
        </p:nvGraphicFramePr>
        <p:xfrm>
          <a:off x="217808" y="827288"/>
          <a:ext cx="9357358" cy="3157670"/>
        </p:xfrm>
        <a:graphic>
          <a:graphicData uri="http://schemas.openxmlformats.org/drawingml/2006/table">
            <a:tbl>
              <a:tblPr/>
              <a:tblGrid>
                <a:gridCol w="1216505">
                  <a:extLst>
                    <a:ext uri="{9D8B030D-6E8A-4147-A177-3AD203B41FA5}">
                      <a16:colId xmlns:a16="http://schemas.microsoft.com/office/drawing/2014/main" val="827967067"/>
                    </a:ext>
                  </a:extLst>
                </a:gridCol>
                <a:gridCol w="1495174">
                  <a:extLst>
                    <a:ext uri="{9D8B030D-6E8A-4147-A177-3AD203B41FA5}">
                      <a16:colId xmlns:a16="http://schemas.microsoft.com/office/drawing/2014/main" val="53714372"/>
                    </a:ext>
                  </a:extLst>
                </a:gridCol>
                <a:gridCol w="2775603">
                  <a:extLst>
                    <a:ext uri="{9D8B030D-6E8A-4147-A177-3AD203B41FA5}">
                      <a16:colId xmlns:a16="http://schemas.microsoft.com/office/drawing/2014/main" val="31401503"/>
                    </a:ext>
                  </a:extLst>
                </a:gridCol>
                <a:gridCol w="661839">
                  <a:extLst>
                    <a:ext uri="{9D8B030D-6E8A-4147-A177-3AD203B41FA5}">
                      <a16:colId xmlns:a16="http://schemas.microsoft.com/office/drawing/2014/main" val="794877164"/>
                    </a:ext>
                  </a:extLst>
                </a:gridCol>
                <a:gridCol w="863757">
                  <a:extLst>
                    <a:ext uri="{9D8B030D-6E8A-4147-A177-3AD203B41FA5}">
                      <a16:colId xmlns:a16="http://schemas.microsoft.com/office/drawing/2014/main" val="751835324"/>
                    </a:ext>
                  </a:extLst>
                </a:gridCol>
                <a:gridCol w="1155414">
                  <a:extLst>
                    <a:ext uri="{9D8B030D-6E8A-4147-A177-3AD203B41FA5}">
                      <a16:colId xmlns:a16="http://schemas.microsoft.com/office/drawing/2014/main" val="1979656978"/>
                    </a:ext>
                  </a:extLst>
                </a:gridCol>
                <a:gridCol w="1189066">
                  <a:extLst>
                    <a:ext uri="{9D8B030D-6E8A-4147-A177-3AD203B41FA5}">
                      <a16:colId xmlns:a16="http://schemas.microsoft.com/office/drawing/2014/main" val="2629538412"/>
                    </a:ext>
                  </a:extLst>
                </a:gridCol>
              </a:tblGrid>
              <a:tr h="129244"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Commands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Binary</a:t>
                      </a:r>
                      <a:r>
                        <a:rPr lang="es-E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IN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OUT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5719361"/>
                  </a:ext>
                </a:extLst>
              </a:tr>
              <a:tr h="166471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ON PWM_L, PWM_H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2668434"/>
                  </a:ext>
                </a:extLst>
              </a:tr>
              <a:tr h="143354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OFF PWM_L, PWM_H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237846"/>
                  </a:ext>
                </a:extLst>
              </a:tr>
              <a:tr h="22240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FREQ 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value_freq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0xFC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value_high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value_low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PWM frequency to the &lt;value&gt; one, defined in kHz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FREQ 20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0x50 0x14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7815106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DT 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0xD1 0x&lt;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PWM deadtime to &lt;value&gt;, when the deadtime is &lt;value&gt;*(1/freq)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DT 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0xA0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426778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DC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0xDC 0x&lt;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duty 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cicle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, value has to be between 0 and 100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DC 50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0xDC 0x32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9914469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ON SRL, SRH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2626991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0x0A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OFF SRL, SRH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201463"/>
                  </a:ext>
                </a:extLst>
              </a:tr>
              <a:tr h="2222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FREQ &lt;value_freq&gt;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0xFC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value_high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value_low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SR frequency to the &lt;value&gt; one, defined in kHz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0572667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DT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0xD1 0x&lt;value&gt;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SR deadtime to &lt;value&gt;, when the deadtime is &lt;value&gt;*(1/freq)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7755879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DC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0xDC 0x&lt;value&gt;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duty 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cicle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, value has to be between 0 and 100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430904"/>
                  </a:ext>
                </a:extLst>
              </a:tr>
              <a:tr h="186312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0xFA 0xF0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ON FAN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0xF0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2780778"/>
                  </a:ext>
                </a:extLst>
              </a:tr>
              <a:tr h="149630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0x0F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OFF FAN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0x0F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7967398"/>
                  </a:ext>
                </a:extLst>
              </a:tr>
              <a:tr h="124691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DC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0xDC 0x&lt;value&gt;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FAN frequency to the &lt;value&gt; one, defined in kHz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DC 80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0xDC 0x20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94801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3785E0D-045B-7958-E747-FD183BFA9BE0}"/>
              </a:ext>
            </a:extLst>
          </p:cNvPr>
          <p:cNvSpPr txBox="1"/>
          <p:nvPr/>
        </p:nvSpPr>
        <p:spPr>
          <a:xfrm>
            <a:off x="590204" y="4559532"/>
            <a:ext cx="76477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PWM &amp; SR </a:t>
            </a:r>
            <a:r>
              <a:rPr lang="en-US" dirty="0"/>
              <a:t>-&gt; change frequency, duty cycle and deadtime</a:t>
            </a:r>
          </a:p>
          <a:p>
            <a:endParaRPr lang="en-US" dirty="0"/>
          </a:p>
          <a:p>
            <a:r>
              <a:rPr lang="en-US" u="sng" dirty="0"/>
              <a:t>FAN</a:t>
            </a:r>
            <a:r>
              <a:rPr lang="en-US" dirty="0"/>
              <a:t> -&gt; should be approx. 66666 Hz and 50% of duty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02886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DAD552A2-B0E5-43C0-2DC1-B78D7BBE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ADC &amp; DAC Module</a:t>
            </a:r>
            <a:endParaRPr lang="es-E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5E6BC2B-1253-F42B-3BFC-C08C9B5B89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3693796"/>
              </p:ext>
            </p:extLst>
          </p:nvPr>
        </p:nvGraphicFramePr>
        <p:xfrm>
          <a:off x="217808" y="908265"/>
          <a:ext cx="9357358" cy="1325375"/>
        </p:xfrm>
        <a:graphic>
          <a:graphicData uri="http://schemas.openxmlformats.org/drawingml/2006/table">
            <a:tbl>
              <a:tblPr/>
              <a:tblGrid>
                <a:gridCol w="1216505">
                  <a:extLst>
                    <a:ext uri="{9D8B030D-6E8A-4147-A177-3AD203B41FA5}">
                      <a16:colId xmlns:a16="http://schemas.microsoft.com/office/drawing/2014/main" val="827967067"/>
                    </a:ext>
                  </a:extLst>
                </a:gridCol>
                <a:gridCol w="1495174">
                  <a:extLst>
                    <a:ext uri="{9D8B030D-6E8A-4147-A177-3AD203B41FA5}">
                      <a16:colId xmlns:a16="http://schemas.microsoft.com/office/drawing/2014/main" val="53714372"/>
                    </a:ext>
                  </a:extLst>
                </a:gridCol>
                <a:gridCol w="2775603">
                  <a:extLst>
                    <a:ext uri="{9D8B030D-6E8A-4147-A177-3AD203B41FA5}">
                      <a16:colId xmlns:a16="http://schemas.microsoft.com/office/drawing/2014/main" val="31401503"/>
                    </a:ext>
                  </a:extLst>
                </a:gridCol>
                <a:gridCol w="661839">
                  <a:extLst>
                    <a:ext uri="{9D8B030D-6E8A-4147-A177-3AD203B41FA5}">
                      <a16:colId xmlns:a16="http://schemas.microsoft.com/office/drawing/2014/main" val="794877164"/>
                    </a:ext>
                  </a:extLst>
                </a:gridCol>
                <a:gridCol w="863757">
                  <a:extLst>
                    <a:ext uri="{9D8B030D-6E8A-4147-A177-3AD203B41FA5}">
                      <a16:colId xmlns:a16="http://schemas.microsoft.com/office/drawing/2014/main" val="751835324"/>
                    </a:ext>
                  </a:extLst>
                </a:gridCol>
                <a:gridCol w="1155414">
                  <a:extLst>
                    <a:ext uri="{9D8B030D-6E8A-4147-A177-3AD203B41FA5}">
                      <a16:colId xmlns:a16="http://schemas.microsoft.com/office/drawing/2014/main" val="1979656978"/>
                    </a:ext>
                  </a:extLst>
                </a:gridCol>
                <a:gridCol w="1189066">
                  <a:extLst>
                    <a:ext uri="{9D8B030D-6E8A-4147-A177-3AD203B41FA5}">
                      <a16:colId xmlns:a16="http://schemas.microsoft.com/office/drawing/2014/main" val="2629538412"/>
                    </a:ext>
                  </a:extLst>
                </a:gridCol>
              </a:tblGrid>
              <a:tr h="129244"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Commands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Binary</a:t>
                      </a:r>
                      <a:r>
                        <a:rPr lang="es-E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IN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OUT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5719361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START_CH 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0x37 0x&lt;value&gt;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Set ADC channel to be sampled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 &amp; values (SPI)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START_CH 3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0x37 0x03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975143"/>
                  </a:ext>
                </a:extLst>
              </a:tr>
              <a:tr h="252789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STOP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0x30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Stops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ADC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sampling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test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STOP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0x30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8748934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DAC0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0xDC 0x&lt;value_H&gt;  0x&lt;value_L&gt;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Actualize the DAC0 value to &lt;value&gt;, output value will be Vout = (&lt;value&gt;/4096)*3,2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2682641"/>
                  </a:ext>
                </a:extLst>
              </a:tr>
              <a:tr h="406345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DAC1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0xDD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value_H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 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value_L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Actualize the DAC1 value to &lt;value&gt;, output value will be 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Vout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= (&lt;value&gt;/4096)*3,3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DAC 1035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0xDC 0x0D  0xE9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7152776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5CFA403D-76A9-F2A6-02BB-705DD28654C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392" r="14721"/>
          <a:stretch/>
        </p:blipFill>
        <p:spPr>
          <a:xfrm>
            <a:off x="593786" y="2417414"/>
            <a:ext cx="4094883" cy="4440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5100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DAD552A2-B0E5-43C0-2DC1-B78D7BBE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list</a:t>
            </a:r>
            <a:endParaRPr lang="es-E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D514B8-E279-6BA3-24CD-06C8D79121C5}"/>
              </a:ext>
            </a:extLst>
          </p:cNvPr>
          <p:cNvSpPr txBox="1"/>
          <p:nvPr/>
        </p:nvSpPr>
        <p:spPr>
          <a:xfrm>
            <a:off x="340822" y="1122218"/>
            <a:ext cx="1123880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UART 0: ok if version is received when device turn on.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UART 2: send command over UART0, ok if received message is expected.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CAN: same as UART2.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Test GPIO I/O functionality.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Middle 1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Middle 2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Test PWM and SR, switch frequency, duty cycle and deadtime to verify the correct behavior.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Frequency = 10, 35, 100, 200, </a:t>
            </a:r>
            <a:r>
              <a:rPr lang="en-US" dirty="0" err="1"/>
              <a:t>etc</a:t>
            </a:r>
            <a:r>
              <a:rPr lang="en-US" dirty="0"/>
              <a:t> [kHz]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DC = 10, 20 ,30, </a:t>
            </a:r>
            <a:r>
              <a:rPr lang="en-US" dirty="0" err="1"/>
              <a:t>etc</a:t>
            </a:r>
            <a:r>
              <a:rPr lang="en-US" dirty="0"/>
              <a:t> [%DC]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Test FAN output, ok measured expected values.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66,6 [kHz]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/>
              <a:t>50 [%DC]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Test ADC, test different values, if the sampled values are nearly the same, ok.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Test DAC, test different values, if the measured value are nearly the same as the requested one, ok.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163618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20388</TotalTime>
  <Words>1687</Words>
  <Application>Microsoft Office PowerPoint</Application>
  <PresentationFormat>Widescreen</PresentationFormat>
  <Paragraphs>429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Courier New</vt:lpstr>
      <vt:lpstr>Office 佈景主題</vt:lpstr>
      <vt:lpstr>ATE MPF32020</vt:lpstr>
      <vt:lpstr>Pinout</vt:lpstr>
      <vt:lpstr>UART &amp; CAN &amp; SPI Module</vt:lpstr>
      <vt:lpstr>UART &amp; CAN Module</vt:lpstr>
      <vt:lpstr>GPIO Module</vt:lpstr>
      <vt:lpstr>PWM &amp; SR &amp; FAN Module</vt:lpstr>
      <vt:lpstr>ADC &amp; DAC Module</vt:lpstr>
      <vt:lpstr>Test list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劉文欽</dc:creator>
  <cp:lastModifiedBy>Josep Izquierdo</cp:lastModifiedBy>
  <cp:revision>3191</cp:revision>
  <dcterms:created xsi:type="dcterms:W3CDTF">2016-07-09T03:28:40Z</dcterms:created>
  <dcterms:modified xsi:type="dcterms:W3CDTF">2022-06-22T07:11:45Z</dcterms:modified>
</cp:coreProperties>
</file>